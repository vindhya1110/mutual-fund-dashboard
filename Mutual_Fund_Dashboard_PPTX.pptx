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57" autoAdjust="0"/>
    <p:restoredTop sz="94610"/>
  </p:normalViewPr>
  <p:slideViewPr>
    <p:cSldViewPr snapToGrid="0" snapToObjects="1">
      <p:cViewPr>
        <p:scale>
          <a:sx n="54" d="100"/>
          <a:sy n="54" d="100"/>
        </p:scale>
        <p:origin x="-48" y="-4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4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4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D7EC5-DD04-49B4-BEAF-8E9107B3348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0425"/>
            <a:ext cx="4457700" cy="914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0425"/>
            <a:ext cx="4457700" cy="914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67D6D-042F-49BB-899C-75BC3A738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45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3B49D6"/>
          </a:solidFill>
          <a:ln/>
        </p:spPr>
      </p:sp>
      <p:sp>
        <p:nvSpPr>
          <p:cNvPr id="3" name="Shape 1"/>
          <p:cNvSpPr/>
          <p:nvPr/>
        </p:nvSpPr>
        <p:spPr>
          <a:xfrm>
            <a:off x="1019175" y="94297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860425"/>
            <a:ext cx="117723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05980" y="860425"/>
            <a:ext cx="85070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599444" y="914400"/>
            <a:ext cx="28573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7E9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PROJECT · JUNE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95253"/>
            <a:ext cx="169529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MUTUAL FUND / FINTECH · DATA ENGINEERING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96903"/>
            <a:ext cx="16952976" cy="197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800" b="1" kern="0" spc="-234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</a:t>
            </a:r>
            <a:r>
              <a:rPr lang="en-US" sz="7800" b="1" kern="0" spc="-234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</a:t>
            </a:r>
            <a:r>
              <a:rPr lang="en-US" sz="7800" b="1" kern="0" spc="-234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914400" y="5967016"/>
            <a:ext cx="10595610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AEB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pipeline that turns raw AMFI market data into a structured database, exploratory insight, and advanced risk analytics.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9007475"/>
            <a:ext cx="440850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Vindhya D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14400" y="9372600"/>
            <a:ext cx="44085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E9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Analyst Intern · Bluestock Fintech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910741" y="8953500"/>
            <a:ext cx="76973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910741" y="9391650"/>
            <a:ext cx="7697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200" kern="0" spc="60" dirty="0">
                <a:solidFill>
                  <a:srgbClr val="7E9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947180" y="8953500"/>
            <a:ext cx="8688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947180" y="9391650"/>
            <a:ext cx="8688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200" kern="0" spc="60" dirty="0">
                <a:solidFill>
                  <a:srgbClr val="7E9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2739" y="8953500"/>
            <a:ext cx="85804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87K+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5082739" y="9391650"/>
            <a:ext cx="8580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200" kern="0" spc="60" dirty="0">
                <a:solidFill>
                  <a:srgbClr val="7E9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207483" y="8953500"/>
            <a:ext cx="116611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yr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207483" y="9391650"/>
            <a:ext cx="11661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200" kern="0" spc="60" dirty="0">
                <a:solidFill>
                  <a:srgbClr val="7E9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HISTORY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23317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1345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analytics platform built from raw market data to investor insight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14400" y="5541476"/>
            <a:ext cx="1157668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ingests public mutual-fund data and carries it through a complete analytics lifecycle — cleaning, modelling, exploration, and advanced quant analysis — for </a:t>
            </a:r>
            <a:r>
              <a:rPr lang="en-US" sz="240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schemes across Equity, Debt and Hybrid categories</a:t>
            </a:r>
            <a:r>
              <a:rPr lang="en-US" sz="24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7203081"/>
            <a:ext cx="3971925" cy="2360811"/>
          </a:xfrm>
          <a:prstGeom prst="roundRect">
            <a:avLst>
              <a:gd name="adj" fmla="val 5648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550" y="7495181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EAEBFB"/>
          </a:solidFill>
          <a:ln/>
        </p:spPr>
      </p:sp>
      <p:sp>
        <p:nvSpPr>
          <p:cNvPr id="8" name="Text 6"/>
          <p:cNvSpPr/>
          <p:nvPr/>
        </p:nvSpPr>
        <p:spPr>
          <a:xfrm>
            <a:off x="1187450" y="7495181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25550" y="8047631"/>
            <a:ext cx="34501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25550" y="8460381"/>
            <a:ext cx="345011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ETL pipeline cleans 10 raw datasets and loads them into a structured database.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76825" y="7203081"/>
            <a:ext cx="3971925" cy="2360811"/>
          </a:xfrm>
          <a:prstGeom prst="roundRect">
            <a:avLst>
              <a:gd name="adj" fmla="val 5648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87975" y="7495181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EAEBFB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875" y="7495181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87975" y="8047631"/>
            <a:ext cx="34501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5387975" y="8460381"/>
            <a:ext cx="345011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notebooks surface market trends, AUM concentration, SIP growth and correlations.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239250" y="7203081"/>
            <a:ext cx="3971925" cy="2360811"/>
          </a:xfrm>
          <a:prstGeom prst="roundRect">
            <a:avLst>
              <a:gd name="adj" fmla="val 5648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0400" y="7495181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EAEBFB"/>
          </a:solidFill>
          <a:ln/>
        </p:spPr>
      </p:sp>
      <p:sp>
        <p:nvSpPr>
          <p:cNvPr id="18" name="Text 16"/>
          <p:cNvSpPr/>
          <p:nvPr/>
        </p:nvSpPr>
        <p:spPr>
          <a:xfrm>
            <a:off x="9512300" y="7495181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50400" y="8047631"/>
            <a:ext cx="34501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550400" y="8460381"/>
            <a:ext cx="345011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performance metrics rank every fund on a composite scorecard.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401675" y="7203081"/>
            <a:ext cx="3971925" cy="2360811"/>
          </a:xfrm>
          <a:prstGeom prst="roundRect">
            <a:avLst>
              <a:gd name="adj" fmla="val 5648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2826" y="7495181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EAEBFB"/>
          </a:solidFill>
          <a:ln/>
        </p:spPr>
      </p:sp>
      <p:sp>
        <p:nvSpPr>
          <p:cNvPr id="23" name="Text 21"/>
          <p:cNvSpPr/>
          <p:nvPr/>
        </p:nvSpPr>
        <p:spPr>
          <a:xfrm>
            <a:off x="13674726" y="7495181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2826" y="8047631"/>
            <a:ext cx="34501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3712826" y="8460381"/>
            <a:ext cx="345011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add Value-at-Risk, cohort retention and a fund recommender.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081298" y="9779001"/>
            <a:ext cx="442107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github.com/Vindhya1110/mutual-fund-dashboard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16268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1345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public market data — 40 schemes over four-plus years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2834878" y="3028355"/>
            <a:ext cx="9525" cy="781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28355"/>
            <a:ext cx="153947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kern="0" spc="-87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14400" y="3637955"/>
            <a:ext cx="1539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DATASETS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01829" y="3028355"/>
            <a:ext cx="9525" cy="781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9" name="Text 7"/>
          <p:cNvSpPr/>
          <p:nvPr/>
        </p:nvSpPr>
        <p:spPr>
          <a:xfrm>
            <a:off x="3298428" y="3028355"/>
            <a:ext cx="222240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kern="0" spc="-87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87K</a:t>
            </a:r>
            <a:r>
              <a:rPr lang="en-US" sz="4350" b="1" kern="0" spc="-87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3298428" y="3637955"/>
            <a:ext cx="22224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&amp; NAV ROWS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81020" y="3028355"/>
            <a:ext cx="9525" cy="781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2" name="Text 10"/>
          <p:cNvSpPr/>
          <p:nvPr/>
        </p:nvSpPr>
        <p:spPr>
          <a:xfrm>
            <a:off x="6365379" y="3028355"/>
            <a:ext cx="173464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kern="0" spc="-87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46K</a:t>
            </a:r>
            <a:endParaRPr lang="en-US" sz="4350" dirty="0"/>
          </a:p>
        </p:txBody>
      </p:sp>
      <p:sp>
        <p:nvSpPr>
          <p:cNvPr id="13" name="Text 11"/>
          <p:cNvSpPr/>
          <p:nvPr/>
        </p:nvSpPr>
        <p:spPr>
          <a:xfrm>
            <a:off x="6365379" y="3637955"/>
            <a:ext cx="17346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NAV RECORDS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44570" y="3028355"/>
            <a:ext cx="163710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kern="0" spc="-87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8944570" y="3637955"/>
            <a:ext cx="16371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API SCHEMES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228613"/>
            <a:ext cx="8250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TABLES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571513"/>
            <a:ext cx="1750318" cy="412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200" y="4663588"/>
            <a:ext cx="14709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r>
              <a:rPr lang="en-US" sz="1350" dirty="0">
                <a:solidFill>
                  <a:srgbClr val="15233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fund_master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779018" y="4571513"/>
            <a:ext cx="1750318" cy="412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6818" y="4663588"/>
            <a:ext cx="14709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r>
              <a:rPr lang="en-US" sz="1350" dirty="0">
                <a:solidFill>
                  <a:srgbClr val="15233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nav_history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643636" y="4571513"/>
            <a:ext cx="2367657" cy="412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1436" y="4663588"/>
            <a:ext cx="20882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r>
              <a:rPr lang="en-US" sz="1350" dirty="0">
                <a:solidFill>
                  <a:srgbClr val="15233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aum_by_fund_house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14400" y="5098563"/>
            <a:ext cx="2573437" cy="412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2200" y="5190638"/>
            <a:ext cx="22950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r>
              <a:rPr lang="en-US" sz="1350" dirty="0">
                <a:solidFill>
                  <a:srgbClr val="15233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monthly_sip_inflows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602137" y="5098563"/>
            <a:ext cx="2264767" cy="412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9937" y="5190638"/>
            <a:ext cx="19853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r>
              <a:rPr lang="en-US" sz="1350" dirty="0">
                <a:solidFill>
                  <a:srgbClr val="15233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category_inflows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81204" y="5098563"/>
            <a:ext cx="2676327" cy="412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9004" y="5190638"/>
            <a:ext cx="240101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r>
              <a:rPr lang="en-US" sz="1350" dirty="0">
                <a:solidFill>
                  <a:srgbClr val="15233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industry_folio_count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14400" y="5625614"/>
            <a:ext cx="2470547" cy="412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2200" y="5717689"/>
            <a:ext cx="21911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r>
              <a:rPr lang="en-US" sz="1350" dirty="0">
                <a:solidFill>
                  <a:srgbClr val="15233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scheme_performance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499247" y="5625614"/>
            <a:ext cx="2779216" cy="412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7047" y="5717689"/>
            <a:ext cx="250699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r>
              <a:rPr lang="en-US" sz="1350" dirty="0">
                <a:solidFill>
                  <a:srgbClr val="15233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investor_transactions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392763" y="5625614"/>
            <a:ext cx="2470547" cy="412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0563" y="5717689"/>
            <a:ext cx="21911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r>
              <a:rPr lang="en-US" sz="1350" dirty="0">
                <a:solidFill>
                  <a:srgbClr val="15233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portfolio_holdings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14400" y="6152663"/>
            <a:ext cx="2367657" cy="412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2200" y="6244738"/>
            <a:ext cx="20882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r>
              <a:rPr lang="en-US" sz="1350" dirty="0">
                <a:solidFill>
                  <a:srgbClr val="15233C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benchmark_indices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363075" y="4228613"/>
            <a:ext cx="8250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363075" y="4676288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39" name="Text 37"/>
          <p:cNvSpPr/>
          <p:nvPr/>
        </p:nvSpPr>
        <p:spPr>
          <a:xfrm>
            <a:off x="9639300" y="4571513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 India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official scheme &amp; NAV master data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363075" y="5179526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41" name="Text 39"/>
          <p:cNvSpPr/>
          <p:nvPr/>
        </p:nvSpPr>
        <p:spPr>
          <a:xfrm>
            <a:off x="9639300" y="5074751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mfapi.in REST API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live historical NAV for 6 large-cap schemes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363075" y="5682764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43" name="Text 41"/>
          <p:cNvSpPr/>
          <p:nvPr/>
        </p:nvSpPr>
        <p:spPr>
          <a:xfrm>
            <a:off x="9639300" y="5577989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/ BSE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NIFTY 50/100/500 &amp; CRISIL benchmark indices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363075" y="6138376"/>
            <a:ext cx="8250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data, educational use only — investments are subject to market risk.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4154349" y="9779001"/>
            <a:ext cx="33158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AMFI · mfapi.in · NSE / BSE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5E7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275886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pipeline, five stages, end to end</a:t>
            </a:r>
            <a:endParaRPr lang="en-US" sz="4950" dirty="0"/>
          </a:p>
        </p:txBody>
      </p:sp>
      <p:sp>
        <p:nvSpPr>
          <p:cNvPr id="29" name="Text 27"/>
          <p:cNvSpPr/>
          <p:nvPr/>
        </p:nvSpPr>
        <p:spPr>
          <a:xfrm>
            <a:off x="710309" y="5627731"/>
            <a:ext cx="169529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single entry point — </a:t>
            </a:r>
            <a:r>
              <a:rPr lang="en-US" sz="1500" dirty="0">
                <a:solidFill>
                  <a:srgbClr val="7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scripts/etl_pipeline.py </a:t>
            </a:r>
            <a:r>
              <a:rPr lang="en-US" sz="15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chains ingest → clean → load in one command.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959285" y="9779001"/>
            <a:ext cx="35167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E7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etl_pipeline.py · pathlib · logging</a:t>
            </a:r>
            <a:endParaRPr lang="en-US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37" y="3165231"/>
            <a:ext cx="17054721" cy="2098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24727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· ETL PIPELINE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Ingest, clean and load — isolated and repeatable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914400" y="4742259"/>
            <a:ext cx="7991475" cy="2376884"/>
          </a:xfrm>
          <a:prstGeom prst="roundRect">
            <a:avLst>
              <a:gd name="adj" fmla="val 4809"/>
            </a:avLst>
          </a:prstGeom>
          <a:solidFill>
            <a:srgbClr val="0C1A30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4970859"/>
            <a:ext cx="7697819" cy="1957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scripts/etl_pipeline.py </a:t>
            </a:r>
            <a:r>
              <a:rPr lang="en-US" sz="1350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350" dirty="0">
                <a:solidFill>
                  <a:srgbClr val="CFE0F5"/>
                </a:solidFill>
                <a:highlight>
                  <a:srgbClr val="0C1A3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ingest_raw(raw_dir):    </a:t>
            </a:r>
            <a:r>
              <a:rPr lang="en-US" sz="135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glob + normalise cols </a:t>
            </a:r>
            <a:r>
              <a:rPr lang="en-US" sz="1350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350" dirty="0">
                <a:solidFill>
                  <a:srgbClr val="CFE0F5"/>
                </a:solidFill>
                <a:highlight>
                  <a:srgbClr val="0C1A3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basic_clean(tables):    </a:t>
            </a:r>
            <a:r>
              <a:rPr lang="en-US" sz="135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trim, drop empties </a:t>
            </a:r>
            <a:r>
              <a:rPr lang="en-US" sz="1350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350" dirty="0">
                <a:solidFill>
                  <a:srgbClr val="CFE0F5"/>
                </a:solidFill>
                <a:highlight>
                  <a:srgbClr val="0C1A3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load_sqlite(processed):  </a:t>
            </a:r>
            <a:r>
              <a:rPr lang="en-US" sz="135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fact/dim tables </a:t>
            </a:r>
            <a:r>
              <a:rPr lang="en-US" sz="1350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350" dirty="0">
                <a:solidFill>
                  <a:srgbClr val="CFE0F5"/>
                </a:solidFill>
                <a:highlight>
                  <a:srgbClr val="0C1A3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main():                  </a:t>
            </a:r>
            <a:r>
              <a:rPr lang="en-US" sz="135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detect root, run all </a:t>
            </a:r>
            <a:r>
              <a:rPr lang="en-US" sz="1350" dirty="0">
                <a:solidFill>
                  <a:srgbClr val="7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scripts/etl_pipeline.py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82125" y="4274146"/>
            <a:ext cx="823121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82125" y="4740871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9" name="Text 7"/>
          <p:cNvSpPr/>
          <p:nvPr/>
        </p:nvSpPr>
        <p:spPr>
          <a:xfrm>
            <a:off x="9658350" y="4636096"/>
            <a:ext cx="7946708" cy="70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hard-coded paths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95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pathlib.Path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throughout; repo root auto-detected.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82125" y="5613996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11" name="Text 9"/>
          <p:cNvSpPr/>
          <p:nvPr/>
        </p:nvSpPr>
        <p:spPr>
          <a:xfrm>
            <a:off x="9658350" y="5509221"/>
            <a:ext cx="7946708" cy="70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NAV handling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95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resample('D').ffill()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holiday gaps after dedup.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82125" y="648712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13" name="Text 11"/>
          <p:cNvSpPr/>
          <p:nvPr/>
        </p:nvSpPr>
        <p:spPr>
          <a:xfrm>
            <a:off x="9658350" y="6382345"/>
            <a:ext cx="7946708" cy="70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isolation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per-file try / except so one bad CSV never aborts the run.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82125" y="7360246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8350" y="7255471"/>
            <a:ext cx="7946708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logging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file load and write recorded at INFO level.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05780" y="9779001"/>
            <a:ext cx="542585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data_ingestion.py · data_cleaning.py · etl_pipeline.py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1908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· DATABASE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SQLite star schema — two dimensions, four facts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14400" y="2317452"/>
            <a:ext cx="8250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660352"/>
            <a:ext cx="3919537" cy="1664891"/>
          </a:xfrm>
          <a:prstGeom prst="roundRect">
            <a:avLst>
              <a:gd name="adj" fmla="val 8010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9350" y="2876252"/>
            <a:ext cx="35531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149350" y="3155652"/>
            <a:ext cx="35531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dim_fund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149350" y="3568403"/>
            <a:ext cx="3553127" cy="5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master — 14 columns, amfi_code primary key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05388" y="2660352"/>
            <a:ext cx="3919537" cy="1664891"/>
          </a:xfrm>
          <a:prstGeom prst="roundRect">
            <a:avLst>
              <a:gd name="adj" fmla="val 8010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0338" y="2876252"/>
            <a:ext cx="35531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240338" y="3155652"/>
            <a:ext cx="35531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240338" y="3568403"/>
            <a:ext cx="3553127" cy="5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— day, month, quarter, year, weekend flag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496693"/>
            <a:ext cx="3919537" cy="1394420"/>
          </a:xfrm>
          <a:prstGeom prst="roundRect">
            <a:avLst>
              <a:gd name="adj" fmla="val 9563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9350" y="4712593"/>
            <a:ext cx="35531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149350" y="4991993"/>
            <a:ext cx="35531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fact_nav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49350" y="5404743"/>
            <a:ext cx="3553127" cy="30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NAV · CHECK(nav &gt; 0)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05388" y="4496693"/>
            <a:ext cx="3919537" cy="1394420"/>
          </a:xfrm>
          <a:prstGeom prst="roundRect">
            <a:avLst>
              <a:gd name="adj" fmla="val 9563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0338" y="4712593"/>
            <a:ext cx="35531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240338" y="4991993"/>
            <a:ext cx="35531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fact_transactions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5240338" y="5404743"/>
            <a:ext cx="3553127" cy="30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/ Lumpsum / Redemption by state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6062564"/>
            <a:ext cx="3919537" cy="1664891"/>
          </a:xfrm>
          <a:prstGeom prst="roundRect">
            <a:avLst>
              <a:gd name="adj" fmla="val 8010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9350" y="6278463"/>
            <a:ext cx="35531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149350" y="6557864"/>
            <a:ext cx="35531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fact_performance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149350" y="6970613"/>
            <a:ext cx="3553127" cy="30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Returns, Sharpe, alpha, beta, drawdown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05388" y="6062564"/>
            <a:ext cx="3919537" cy="1664891"/>
          </a:xfrm>
          <a:prstGeom prst="roundRect">
            <a:avLst>
              <a:gd name="adj" fmla="val 8010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40338" y="6278463"/>
            <a:ext cx="35531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240338" y="6557864"/>
            <a:ext cx="35531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fact_aum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5240338" y="6970613"/>
            <a:ext cx="3553127" cy="5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by fund house, units in column names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63075" y="2317452"/>
            <a:ext cx="8250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ANALYTICAL QUERIES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63075" y="2765127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32" name="Text 30"/>
          <p:cNvSpPr/>
          <p:nvPr/>
        </p:nvSpPr>
        <p:spPr>
          <a:xfrm>
            <a:off x="9639300" y="2660352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fund houses by total AUM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363075" y="323026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34" name="Text 32"/>
          <p:cNvSpPr/>
          <p:nvPr/>
        </p:nvSpPr>
        <p:spPr>
          <a:xfrm>
            <a:off x="9639300" y="3125490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year-on-year growth </a:t>
            </a:r>
            <a:r>
              <a:rPr lang="en-US" sz="195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(LAG window fn)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363075" y="3695402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36" name="Text 34"/>
          <p:cNvSpPr/>
          <p:nvPr/>
        </p:nvSpPr>
        <p:spPr>
          <a:xfrm>
            <a:off x="9639300" y="3590627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volume &amp; amount by state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363075" y="416054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38" name="Text 36"/>
          <p:cNvSpPr/>
          <p:nvPr/>
        </p:nvSpPr>
        <p:spPr>
          <a:xfrm>
            <a:off x="9639300" y="4055765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funds by 1-year return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363075" y="4625678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40" name="Text 38"/>
          <p:cNvSpPr/>
          <p:nvPr/>
        </p:nvSpPr>
        <p:spPr>
          <a:xfrm>
            <a:off x="9639300" y="4520903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Redemption-vs-SIP ratio &amp; KYC breakdown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363075" y="8398868"/>
            <a:ext cx="8010525" cy="1164233"/>
          </a:xfrm>
          <a:prstGeom prst="roundRect">
            <a:avLst>
              <a:gd name="adj" fmla="val 11454"/>
            </a:avLst>
          </a:prstGeom>
          <a:solidFill>
            <a:srgbClr val="EAEBFB"/>
          </a:solidFill>
          <a:ln w="6350">
            <a:solidFill>
              <a:srgbClr val="D5D8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74225" y="8690967"/>
            <a:ext cx="7609872" cy="61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2A3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 table carries a foreign key to </a:t>
            </a:r>
            <a:r>
              <a:rPr lang="en-US" sz="1575" b="1" dirty="0">
                <a:solidFill>
                  <a:srgbClr val="2A3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dim_fund.amfi_code </a:t>
            </a:r>
            <a:r>
              <a:rPr lang="en-US" sz="1575" dirty="0">
                <a:solidFill>
                  <a:srgbClr val="2A3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referential integrity enforced in the schema.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3764121" y="9779001"/>
            <a:ext cx="37177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schema.sql · load_db.py · queries.sql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435597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 · EXPLORATORY DATA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charts, one market story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914400" y="2279352"/>
            <a:ext cx="8020050" cy="7283748"/>
          </a:xfrm>
          <a:prstGeom prst="roundRect">
            <a:avLst>
              <a:gd name="adj" fmla="val 1569"/>
            </a:avLst>
          </a:prstGeom>
          <a:solidFill>
            <a:srgbClr val="EDF0F5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150" y="9067800"/>
            <a:ext cx="5962749" cy="336550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3800" y="9150350"/>
            <a:ext cx="59003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63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chart_placeholder </a:t>
            </a:r>
            <a:r>
              <a:rPr lang="en-US" sz="1050" kern="0" spc="63" dirty="0">
                <a:solidFill>
                  <a:srgbClr val="56627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01_nav_trends.html — drop notebook screenshot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53550" y="4136827"/>
            <a:ext cx="82606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 FINDINGS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53550" y="4584502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10" name="Text 8"/>
          <p:cNvSpPr/>
          <p:nvPr/>
        </p:nvSpPr>
        <p:spPr>
          <a:xfrm>
            <a:off x="9629775" y="4479727"/>
            <a:ext cx="7976140" cy="70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manages ₹12.5L Cr+ AUM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nearly 2× the next AMC; top-5 hold ~65% of industry assets.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53550" y="5438577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12" name="Text 10"/>
          <p:cNvSpPr/>
          <p:nvPr/>
        </p:nvSpPr>
        <p:spPr>
          <a:xfrm>
            <a:off x="9629775" y="5333802"/>
            <a:ext cx="7976140" cy="70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crossed ₹20,000 Cr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2024; active accounts grew 4.9 → 7.4 Cr in three years.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353550" y="6292652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14" name="Text 12"/>
          <p:cNvSpPr/>
          <p:nvPr/>
        </p:nvSpPr>
        <p:spPr>
          <a:xfrm>
            <a:off x="9629775" y="6187877"/>
            <a:ext cx="7976140" cy="70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Large-caps move together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 &gt; 0.85); small-cap–debt correlation near zero confirms diversification.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53550" y="7146727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3B49D6"/>
          </a:solidFill>
          <a:ln/>
        </p:spPr>
      </p:sp>
      <p:sp>
        <p:nvSpPr>
          <p:cNvPr id="16" name="Text 14"/>
          <p:cNvSpPr/>
          <p:nvPr/>
        </p:nvSpPr>
        <p:spPr>
          <a:xfrm>
            <a:off x="9629775" y="7041952"/>
            <a:ext cx="7976140" cy="70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24%, IT 18%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dominate equity holdings; industry folios near 20 Cr.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00942" y="9779001"/>
            <a:ext cx="52248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EDA_Analysis.ipynb · 11 charts (Plotly + Matplotlib)</a:t>
            </a:r>
            <a:endParaRPr lang="en-US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78" y="3752701"/>
            <a:ext cx="8180421" cy="433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36299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· PERFORMANCE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metrics from daily NAV returns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14400" y="2126952"/>
            <a:ext cx="1157668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metrics computed for all 40 funds — risk-free proxy </a:t>
            </a:r>
            <a:r>
              <a:rPr lang="en-US" sz="240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 p.a. </a:t>
            </a:r>
            <a:r>
              <a:rPr lang="en-US" sz="24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(RBI repo), benchmark </a:t>
            </a:r>
            <a:r>
              <a:rPr lang="en-US" sz="240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NIFTY 100</a:t>
            </a:r>
            <a:r>
              <a:rPr lang="en-US" sz="24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annualised over </a:t>
            </a:r>
            <a:r>
              <a:rPr lang="en-US" sz="240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 trading days</a:t>
            </a:r>
            <a:r>
              <a:rPr lang="en-US" sz="24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5069053"/>
            <a:ext cx="5346700" cy="1423591"/>
          </a:xfrm>
          <a:prstGeom prst="roundRect">
            <a:avLst>
              <a:gd name="adj" fmla="val 9367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8400" y="5304003"/>
            <a:ext cx="49838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A3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168400" y="5716753"/>
            <a:ext cx="4983861" cy="5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Trading-day compounded annual growth — (252 / n)^ exponent.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70650" y="5069053"/>
            <a:ext cx="5346700" cy="1423591"/>
          </a:xfrm>
          <a:prstGeom prst="roundRect">
            <a:avLst>
              <a:gd name="adj" fmla="val 9367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4650" y="5304003"/>
            <a:ext cx="49838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A3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724650" y="5716753"/>
            <a:ext cx="4983861" cy="30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return per unit of total volatility, ×√252.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026901" y="5069053"/>
            <a:ext cx="5346700" cy="1423591"/>
          </a:xfrm>
          <a:prstGeom prst="roundRect">
            <a:avLst>
              <a:gd name="adj" fmla="val 9367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80900" y="5304003"/>
            <a:ext cx="49838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A3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Sortino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280900" y="5716753"/>
            <a:ext cx="4983861" cy="30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Sharpe, but penalises downside deviation only.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6702194"/>
            <a:ext cx="5346700" cy="1153120"/>
          </a:xfrm>
          <a:prstGeom prst="roundRect">
            <a:avLst>
              <a:gd name="adj" fmla="val 11564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8400" y="6937144"/>
            <a:ext cx="49838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A3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&amp; Beta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68400" y="7349894"/>
            <a:ext cx="4983861" cy="30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regression of fund vs NIFTY 100 returns.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70650" y="6702194"/>
            <a:ext cx="5346700" cy="1153120"/>
          </a:xfrm>
          <a:prstGeom prst="roundRect">
            <a:avLst>
              <a:gd name="adj" fmla="val 11564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4650" y="6937144"/>
            <a:ext cx="49838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A3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Drawdown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724650" y="7349894"/>
            <a:ext cx="4983861" cy="30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peak-to-trough fall in NAV.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026901" y="6702194"/>
            <a:ext cx="5346700" cy="1153120"/>
          </a:xfrm>
          <a:prstGeom prst="roundRect">
            <a:avLst>
              <a:gd name="adj" fmla="val 11564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80900" y="6937144"/>
            <a:ext cx="49838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A3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Error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280900" y="7349894"/>
            <a:ext cx="4983861" cy="30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of fund-minus-benchmark return, annualised.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52373" y="9779001"/>
            <a:ext cx="73348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Performance_Analysis.ipynb → fund_scorecard · alpha_beta · tracking_error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204985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 SCORECARD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performers by composite score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14400" y="2107902"/>
            <a:ext cx="1157668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weighting — Sharpe 40% · CAGR 25% · Alpha 20% · Drawdown 10% · Expense 5%.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535055"/>
            <a:ext cx="474464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7" name="Text 5"/>
          <p:cNvSpPr/>
          <p:nvPr/>
        </p:nvSpPr>
        <p:spPr>
          <a:xfrm>
            <a:off x="1085850" y="4195330"/>
            <a:ext cx="20776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1388864" y="4535055"/>
            <a:ext cx="7904758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9" name="Text 7"/>
          <p:cNvSpPr/>
          <p:nvPr/>
        </p:nvSpPr>
        <p:spPr>
          <a:xfrm>
            <a:off x="1560314" y="4195330"/>
            <a:ext cx="7799001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9293622" y="4535055"/>
            <a:ext cx="2084487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1" name="Text 9"/>
          <p:cNvSpPr/>
          <p:nvPr/>
        </p:nvSpPr>
        <p:spPr>
          <a:xfrm>
            <a:off x="9388872" y="4195330"/>
            <a:ext cx="1817787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CAGR 3Y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1378109" y="4535055"/>
            <a:ext cx="1869480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73359" y="4195330"/>
            <a:ext cx="160278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SHARPE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3247589" y="4535055"/>
            <a:ext cx="2084685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5" name="Text 13"/>
          <p:cNvSpPr/>
          <p:nvPr/>
        </p:nvSpPr>
        <p:spPr>
          <a:xfrm>
            <a:off x="13342839" y="4195330"/>
            <a:ext cx="1817985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DD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5332273" y="4535055"/>
            <a:ext cx="2041327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7" name="Text 15"/>
          <p:cNvSpPr/>
          <p:nvPr/>
        </p:nvSpPr>
        <p:spPr>
          <a:xfrm>
            <a:off x="15427523" y="4195330"/>
            <a:ext cx="1774627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914400" y="5258955"/>
            <a:ext cx="474464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19" name="Text 17"/>
          <p:cNvSpPr/>
          <p:nvPr/>
        </p:nvSpPr>
        <p:spPr>
          <a:xfrm>
            <a:off x="1085850" y="4716030"/>
            <a:ext cx="20776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88864" y="5258955"/>
            <a:ext cx="7904758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1" name="Text 19"/>
          <p:cNvSpPr/>
          <p:nvPr/>
        </p:nvSpPr>
        <p:spPr>
          <a:xfrm>
            <a:off x="1560314" y="4716030"/>
            <a:ext cx="779900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Large Cap — Regular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293622" y="5258955"/>
            <a:ext cx="2084487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3" name="Text 21"/>
          <p:cNvSpPr/>
          <p:nvPr/>
        </p:nvSpPr>
        <p:spPr>
          <a:xfrm>
            <a:off x="9388872" y="4716030"/>
            <a:ext cx="18177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34.00%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378109" y="5258955"/>
            <a:ext cx="1869480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5" name="Text 23"/>
          <p:cNvSpPr/>
          <p:nvPr/>
        </p:nvSpPr>
        <p:spPr>
          <a:xfrm>
            <a:off x="11473359" y="4716030"/>
            <a:ext cx="1602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1.45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247589" y="5258955"/>
            <a:ext cx="2084685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7" name="Text 25"/>
          <p:cNvSpPr/>
          <p:nvPr/>
        </p:nvSpPr>
        <p:spPr>
          <a:xfrm>
            <a:off x="13342839" y="4716030"/>
            <a:ext cx="181798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−11.3%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332273" y="5258955"/>
            <a:ext cx="2041327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9" name="Shape 27"/>
          <p:cNvSpPr/>
          <p:nvPr/>
        </p:nvSpPr>
        <p:spPr>
          <a:xfrm>
            <a:off x="16470611" y="4725555"/>
            <a:ext cx="73154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30" name="Text 28"/>
          <p:cNvSpPr/>
          <p:nvPr/>
        </p:nvSpPr>
        <p:spPr>
          <a:xfrm>
            <a:off x="16508711" y="4773180"/>
            <a:ext cx="5791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88.9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14400" y="5963805"/>
            <a:ext cx="474464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2" name="Text 30"/>
          <p:cNvSpPr/>
          <p:nvPr/>
        </p:nvSpPr>
        <p:spPr>
          <a:xfrm>
            <a:off x="1085850" y="5427230"/>
            <a:ext cx="207764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388864" y="5963805"/>
            <a:ext cx="7904758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4" name="Text 32"/>
          <p:cNvSpPr/>
          <p:nvPr/>
        </p:nvSpPr>
        <p:spPr>
          <a:xfrm>
            <a:off x="1560314" y="5427230"/>
            <a:ext cx="779900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Bluechip — Direct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293622" y="5963805"/>
            <a:ext cx="2084487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6" name="Text 34"/>
          <p:cNvSpPr/>
          <p:nvPr/>
        </p:nvSpPr>
        <p:spPr>
          <a:xfrm>
            <a:off x="9388872" y="5427230"/>
            <a:ext cx="181778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32.49%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1378109" y="5963805"/>
            <a:ext cx="1869480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8" name="Text 36"/>
          <p:cNvSpPr/>
          <p:nvPr/>
        </p:nvSpPr>
        <p:spPr>
          <a:xfrm>
            <a:off x="11473359" y="5427230"/>
            <a:ext cx="160278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1.03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3247589" y="5963805"/>
            <a:ext cx="2084685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40" name="Text 38"/>
          <p:cNvSpPr/>
          <p:nvPr/>
        </p:nvSpPr>
        <p:spPr>
          <a:xfrm>
            <a:off x="13342839" y="5427230"/>
            <a:ext cx="181798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−12.6%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332273" y="5963805"/>
            <a:ext cx="2041327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42" name="Shape 40"/>
          <p:cNvSpPr/>
          <p:nvPr/>
        </p:nvSpPr>
        <p:spPr>
          <a:xfrm>
            <a:off x="16470611" y="5430405"/>
            <a:ext cx="73154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43" name="Text 41"/>
          <p:cNvSpPr/>
          <p:nvPr/>
        </p:nvSpPr>
        <p:spPr>
          <a:xfrm>
            <a:off x="16508711" y="5478030"/>
            <a:ext cx="5791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82.0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914400" y="6668655"/>
            <a:ext cx="474464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45" name="Text 43"/>
          <p:cNvSpPr/>
          <p:nvPr/>
        </p:nvSpPr>
        <p:spPr>
          <a:xfrm>
            <a:off x="1085850" y="6132080"/>
            <a:ext cx="207764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388864" y="6668655"/>
            <a:ext cx="7904758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47" name="Text 45"/>
          <p:cNvSpPr/>
          <p:nvPr/>
        </p:nvSpPr>
        <p:spPr>
          <a:xfrm>
            <a:off x="1560314" y="6132080"/>
            <a:ext cx="779900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Midcap — Regular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293622" y="6668655"/>
            <a:ext cx="2084487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49" name="Text 47"/>
          <p:cNvSpPr/>
          <p:nvPr/>
        </p:nvSpPr>
        <p:spPr>
          <a:xfrm>
            <a:off x="9388872" y="6132080"/>
            <a:ext cx="181778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31.78%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1378109" y="6668655"/>
            <a:ext cx="1869480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1" name="Text 49"/>
          <p:cNvSpPr/>
          <p:nvPr/>
        </p:nvSpPr>
        <p:spPr>
          <a:xfrm>
            <a:off x="11473359" y="6132080"/>
            <a:ext cx="160278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1.18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3247589" y="6668655"/>
            <a:ext cx="2084685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3" name="Text 51"/>
          <p:cNvSpPr/>
          <p:nvPr/>
        </p:nvSpPr>
        <p:spPr>
          <a:xfrm>
            <a:off x="13342839" y="6132080"/>
            <a:ext cx="181798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−18.2%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332273" y="6668655"/>
            <a:ext cx="2041327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5" name="Shape 53"/>
          <p:cNvSpPr/>
          <p:nvPr/>
        </p:nvSpPr>
        <p:spPr>
          <a:xfrm>
            <a:off x="16470611" y="6135255"/>
            <a:ext cx="73154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56" name="Text 54"/>
          <p:cNvSpPr/>
          <p:nvPr/>
        </p:nvSpPr>
        <p:spPr>
          <a:xfrm>
            <a:off x="16508711" y="6182880"/>
            <a:ext cx="5791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80.5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914400" y="7373505"/>
            <a:ext cx="474464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8" name="Text 56"/>
          <p:cNvSpPr/>
          <p:nvPr/>
        </p:nvSpPr>
        <p:spPr>
          <a:xfrm>
            <a:off x="1085850" y="6836930"/>
            <a:ext cx="207764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388864" y="7373505"/>
            <a:ext cx="7904758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0" name="Text 58"/>
          <p:cNvSpPr/>
          <p:nvPr/>
        </p:nvSpPr>
        <p:spPr>
          <a:xfrm>
            <a:off x="1560314" y="6836930"/>
            <a:ext cx="779900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Flexicap — Regular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9293622" y="7373505"/>
            <a:ext cx="2084487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2" name="Text 60"/>
          <p:cNvSpPr/>
          <p:nvPr/>
        </p:nvSpPr>
        <p:spPr>
          <a:xfrm>
            <a:off x="9388872" y="6836930"/>
            <a:ext cx="181778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29.58%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1378109" y="7373505"/>
            <a:ext cx="1869480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4" name="Text 62"/>
          <p:cNvSpPr/>
          <p:nvPr/>
        </p:nvSpPr>
        <p:spPr>
          <a:xfrm>
            <a:off x="11473359" y="6836930"/>
            <a:ext cx="160278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1.31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3247589" y="7373505"/>
            <a:ext cx="2084685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6" name="Text 64"/>
          <p:cNvSpPr/>
          <p:nvPr/>
        </p:nvSpPr>
        <p:spPr>
          <a:xfrm>
            <a:off x="13342839" y="6836930"/>
            <a:ext cx="181798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−13.0%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5332273" y="7373505"/>
            <a:ext cx="2041327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8" name="Shape 66"/>
          <p:cNvSpPr/>
          <p:nvPr/>
        </p:nvSpPr>
        <p:spPr>
          <a:xfrm>
            <a:off x="16470611" y="6840105"/>
            <a:ext cx="73154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69" name="Text 67"/>
          <p:cNvSpPr/>
          <p:nvPr/>
        </p:nvSpPr>
        <p:spPr>
          <a:xfrm>
            <a:off x="16508711" y="6887730"/>
            <a:ext cx="5791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79.2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1085850" y="7541780"/>
            <a:ext cx="207764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50" dirty="0"/>
          </a:p>
        </p:txBody>
      </p:sp>
      <p:sp>
        <p:nvSpPr>
          <p:cNvPr id="71" name="Text 69"/>
          <p:cNvSpPr/>
          <p:nvPr/>
        </p:nvSpPr>
        <p:spPr>
          <a:xfrm>
            <a:off x="1560314" y="7541780"/>
            <a:ext cx="7799001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Mid-Cap Opportunities — Regular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9388872" y="7541780"/>
            <a:ext cx="1817787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32.44%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11473359" y="7541780"/>
            <a:ext cx="1602780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1.09</a:t>
            </a:r>
            <a:endParaRPr lang="en-US" sz="1650" dirty="0"/>
          </a:p>
        </p:txBody>
      </p:sp>
      <p:sp>
        <p:nvSpPr>
          <p:cNvPr id="74" name="Text 72"/>
          <p:cNvSpPr/>
          <p:nvPr/>
        </p:nvSpPr>
        <p:spPr>
          <a:xfrm>
            <a:off x="13342839" y="7541780"/>
            <a:ext cx="1817985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−16.2%</a:t>
            </a:r>
            <a:endParaRPr lang="en-US" sz="1650" dirty="0"/>
          </a:p>
        </p:txBody>
      </p:sp>
      <p:sp>
        <p:nvSpPr>
          <p:cNvPr id="75" name="Shape 73"/>
          <p:cNvSpPr/>
          <p:nvPr/>
        </p:nvSpPr>
        <p:spPr>
          <a:xfrm>
            <a:off x="16470611" y="7544955"/>
            <a:ext cx="73154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76" name="Text 74"/>
          <p:cNvSpPr/>
          <p:nvPr/>
        </p:nvSpPr>
        <p:spPr>
          <a:xfrm>
            <a:off x="16508711" y="7592580"/>
            <a:ext cx="5791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78.1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5617627" y="9779001"/>
            <a:ext cx="18321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fund_scorecard.csv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1908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Value-at-Risk — where the tail risk lives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14400" y="2107902"/>
            <a:ext cx="1157668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Historical-simulation VaR &amp; Conditional VaR at 95% / 99% confidence. </a:t>
            </a:r>
            <a:r>
              <a:rPr lang="en-US" sz="180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99% = −3.5% </a:t>
            </a:r>
            <a:r>
              <a:rPr lang="en-US" sz="18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a 1% chance of losing more than 3.5% on any trading day.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060122"/>
            <a:ext cx="82606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B445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RISK — SMALL-CAP EQUITY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5704647"/>
            <a:ext cx="2885480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8" name="Text 6"/>
          <p:cNvSpPr/>
          <p:nvPr/>
        </p:nvSpPr>
        <p:spPr>
          <a:xfrm>
            <a:off x="1085850" y="5364922"/>
            <a:ext cx="262914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799880" y="5704647"/>
            <a:ext cx="1711424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0" name="Text 8"/>
          <p:cNvSpPr/>
          <p:nvPr/>
        </p:nvSpPr>
        <p:spPr>
          <a:xfrm>
            <a:off x="3895130" y="5364922"/>
            <a:ext cx="144472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95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5511304" y="5704647"/>
            <a:ext cx="1711424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2" name="Text 10"/>
          <p:cNvSpPr/>
          <p:nvPr/>
        </p:nvSpPr>
        <p:spPr>
          <a:xfrm>
            <a:off x="5606554" y="5364922"/>
            <a:ext cx="144472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99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7222728" y="5704647"/>
            <a:ext cx="1711722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7978" y="5364922"/>
            <a:ext cx="1445022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CVAR 99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914400" y="6326947"/>
            <a:ext cx="2885480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" y="5885622"/>
            <a:ext cx="262914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ABSL Small Cap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3799880" y="6326947"/>
            <a:ext cx="1711424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18" name="Text 16"/>
          <p:cNvSpPr/>
          <p:nvPr/>
        </p:nvSpPr>
        <p:spPr>
          <a:xfrm>
            <a:off x="3895130" y="5885622"/>
            <a:ext cx="144472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−2.60%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511304" y="6326947"/>
            <a:ext cx="1711424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0" name="Text 18"/>
          <p:cNvSpPr/>
          <p:nvPr/>
        </p:nvSpPr>
        <p:spPr>
          <a:xfrm>
            <a:off x="5606554" y="5885622"/>
            <a:ext cx="144472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−3.71%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222728" y="6326947"/>
            <a:ext cx="1711722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7978" y="5885622"/>
            <a:ext cx="144502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−4.21%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14400" y="6930198"/>
            <a:ext cx="2885480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4" name="Text 22"/>
          <p:cNvSpPr/>
          <p:nvPr/>
        </p:nvSpPr>
        <p:spPr>
          <a:xfrm>
            <a:off x="1085850" y="6495222"/>
            <a:ext cx="262914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 Small Cap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3799880" y="6930198"/>
            <a:ext cx="1711424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6" name="Text 24"/>
          <p:cNvSpPr/>
          <p:nvPr/>
        </p:nvSpPr>
        <p:spPr>
          <a:xfrm>
            <a:off x="3895130" y="6495222"/>
            <a:ext cx="144472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−2.35%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5511304" y="6930198"/>
            <a:ext cx="1711424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8" name="Text 26"/>
          <p:cNvSpPr/>
          <p:nvPr/>
        </p:nvSpPr>
        <p:spPr>
          <a:xfrm>
            <a:off x="5606554" y="6495222"/>
            <a:ext cx="144472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−3.68%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222728" y="6930198"/>
            <a:ext cx="1711722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0" name="Text 28"/>
          <p:cNvSpPr/>
          <p:nvPr/>
        </p:nvSpPr>
        <p:spPr>
          <a:xfrm>
            <a:off x="7317978" y="6495222"/>
            <a:ext cx="144502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−4.08%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85850" y="7098473"/>
            <a:ext cx="26291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Small Cap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3895130" y="7098473"/>
            <a:ext cx="14447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−2.69%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606554" y="7098473"/>
            <a:ext cx="14447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−3.61%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317978" y="7098473"/>
            <a:ext cx="14450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−4.00%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353550" y="5060122"/>
            <a:ext cx="82606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 RISK — LIQUID DEBT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53550" y="5704647"/>
            <a:ext cx="2832795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37" name="Text 35"/>
          <p:cNvSpPr/>
          <p:nvPr/>
        </p:nvSpPr>
        <p:spPr>
          <a:xfrm>
            <a:off x="9525000" y="5364922"/>
            <a:ext cx="2574878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12186345" y="5704647"/>
            <a:ext cx="1728986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39" name="Text 37"/>
          <p:cNvSpPr/>
          <p:nvPr/>
        </p:nvSpPr>
        <p:spPr>
          <a:xfrm>
            <a:off x="12281595" y="5364922"/>
            <a:ext cx="1462286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95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13915331" y="5704647"/>
            <a:ext cx="1728986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41" name="Text 39"/>
          <p:cNvSpPr/>
          <p:nvPr/>
        </p:nvSpPr>
        <p:spPr>
          <a:xfrm>
            <a:off x="14010581" y="5364922"/>
            <a:ext cx="1462286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99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15644317" y="5704647"/>
            <a:ext cx="1729284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43" name="Text 41"/>
          <p:cNvSpPr/>
          <p:nvPr/>
        </p:nvSpPr>
        <p:spPr>
          <a:xfrm>
            <a:off x="15739567" y="5364922"/>
            <a:ext cx="146258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CVAR 99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9353550" y="6326947"/>
            <a:ext cx="2832795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0" y="5885622"/>
            <a:ext cx="257487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ABSL Liquid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2186345" y="6326947"/>
            <a:ext cx="1728986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47" name="Text 45"/>
          <p:cNvSpPr/>
          <p:nvPr/>
        </p:nvSpPr>
        <p:spPr>
          <a:xfrm>
            <a:off x="12281595" y="5885622"/>
            <a:ext cx="146228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−0.03%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3915331" y="6326947"/>
            <a:ext cx="1728986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49" name="Text 47"/>
          <p:cNvSpPr/>
          <p:nvPr/>
        </p:nvSpPr>
        <p:spPr>
          <a:xfrm>
            <a:off x="14010581" y="5885622"/>
            <a:ext cx="146228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−0.05%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5644317" y="6326947"/>
            <a:ext cx="1729284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1" name="Text 49"/>
          <p:cNvSpPr/>
          <p:nvPr/>
        </p:nvSpPr>
        <p:spPr>
          <a:xfrm>
            <a:off x="15739567" y="5885622"/>
            <a:ext cx="146258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−0.06%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9353550" y="6930198"/>
            <a:ext cx="2832795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3" name="Text 51"/>
          <p:cNvSpPr/>
          <p:nvPr/>
        </p:nvSpPr>
        <p:spPr>
          <a:xfrm>
            <a:off x="9525000" y="6495222"/>
            <a:ext cx="257487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Liquid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2186345" y="6930198"/>
            <a:ext cx="1728986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5" name="Text 53"/>
          <p:cNvSpPr/>
          <p:nvPr/>
        </p:nvSpPr>
        <p:spPr>
          <a:xfrm>
            <a:off x="12281595" y="6495222"/>
            <a:ext cx="146228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−0.02%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3915331" y="6930198"/>
            <a:ext cx="1728986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7" name="Text 55"/>
          <p:cNvSpPr/>
          <p:nvPr/>
        </p:nvSpPr>
        <p:spPr>
          <a:xfrm>
            <a:off x="14010581" y="6495222"/>
            <a:ext cx="146228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−0.05%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5644317" y="6930198"/>
            <a:ext cx="1729284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9" name="Text 57"/>
          <p:cNvSpPr/>
          <p:nvPr/>
        </p:nvSpPr>
        <p:spPr>
          <a:xfrm>
            <a:off x="15739567" y="6495222"/>
            <a:ext cx="146258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−0.06%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9525000" y="7098473"/>
            <a:ext cx="25748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Liquid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2281595" y="7098473"/>
            <a:ext cx="14622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−0.03%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4010581" y="7098473"/>
            <a:ext cx="14622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−0.05%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15739567" y="7098473"/>
            <a:ext cx="14625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−0.06%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3471525" y="9779001"/>
            <a:ext cx="40191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var_analysis.csv · historical simulation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5E7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333964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 · ADVANCED ANALYTICS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quant modules beyond the basics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914400" y="4788396"/>
            <a:ext cx="5321300" cy="2360811"/>
          </a:xfrm>
          <a:prstGeom prst="roundRect">
            <a:avLst>
              <a:gd name="adj" fmla="val 5648"/>
            </a:avLst>
          </a:prstGeom>
          <a:solidFill>
            <a:srgbClr val="122742"/>
          </a:solidFill>
          <a:ln w="6350">
            <a:solidFill>
              <a:srgbClr val="2740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5550" y="5080496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1D3A5E"/>
          </a:solidFill>
          <a:ln/>
        </p:spPr>
      </p:sp>
      <p:sp>
        <p:nvSpPr>
          <p:cNvPr id="7" name="Text 5"/>
          <p:cNvSpPr/>
          <p:nvPr/>
        </p:nvSpPr>
        <p:spPr>
          <a:xfrm>
            <a:off x="1187450" y="5080496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550" y="5632946"/>
            <a:ext cx="48399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at Risk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25550" y="6045696"/>
            <a:ext cx="4839970" cy="5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VaR &amp; Expected Shortfall at 95% / 99% for all 40 funds — small-caps −3.7%, liquid debt −0.05%.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83350" y="4788396"/>
            <a:ext cx="5321300" cy="2360811"/>
          </a:xfrm>
          <a:prstGeom prst="roundRect">
            <a:avLst>
              <a:gd name="adj" fmla="val 5648"/>
            </a:avLst>
          </a:prstGeom>
          <a:solidFill>
            <a:srgbClr val="122742"/>
          </a:solidFill>
          <a:ln w="6350">
            <a:solidFill>
              <a:srgbClr val="2740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94500" y="5080496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1D3A5E"/>
          </a:solidFill>
          <a:ln/>
        </p:spPr>
      </p:sp>
      <p:sp>
        <p:nvSpPr>
          <p:cNvPr id="12" name="Text 10"/>
          <p:cNvSpPr/>
          <p:nvPr/>
        </p:nvSpPr>
        <p:spPr>
          <a:xfrm>
            <a:off x="6756400" y="5080496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94500" y="5632946"/>
            <a:ext cx="48399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Retention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794500" y="6045696"/>
            <a:ext cx="4839970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investors, 17 monthly cohorts. ~25% month-1 retention reveals high early churn; Jan-2024 cohort holds 34–36%.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052300" y="4788396"/>
            <a:ext cx="5321300" cy="2360811"/>
          </a:xfrm>
          <a:prstGeom prst="roundRect">
            <a:avLst>
              <a:gd name="adj" fmla="val 5648"/>
            </a:avLst>
          </a:prstGeom>
          <a:solidFill>
            <a:srgbClr val="122742"/>
          </a:solidFill>
          <a:ln w="6350">
            <a:solidFill>
              <a:srgbClr val="2740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63450" y="5080496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1D3A5E"/>
          </a:solidFill>
          <a:ln/>
        </p:spPr>
      </p:sp>
      <p:sp>
        <p:nvSpPr>
          <p:cNvPr id="17" name="Text 15"/>
          <p:cNvSpPr/>
          <p:nvPr/>
        </p:nvSpPr>
        <p:spPr>
          <a:xfrm>
            <a:off x="12325350" y="5080496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63450" y="5632946"/>
            <a:ext cx="48399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Recommender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2363450" y="6045696"/>
            <a:ext cx="4839970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A8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scorer ranks funds on Sharpe, CAGR, drawdown &amp; expense across three investor risk profiles.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739640" y="9779001"/>
            <a:ext cx="271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E7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05_advanced_analytics.ipynb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23317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 RECOMMENDER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picks for every risk appetite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14400" y="2107902"/>
            <a:ext cx="1157668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rule-based scorer ranks every fund on Sharpe, CAGR, drawdown and expense — then re-weights the blend for each investor risk profile.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945791"/>
            <a:ext cx="8250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CONSERVATIVE · WEIGHTED TOWARD STABILITY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5609366"/>
            <a:ext cx="469205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8" name="Text 6"/>
          <p:cNvSpPr/>
          <p:nvPr/>
        </p:nvSpPr>
        <p:spPr>
          <a:xfrm>
            <a:off x="1085850" y="5269641"/>
            <a:ext cx="202505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383606" y="5609366"/>
            <a:ext cx="3316982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0" name="Text 8"/>
          <p:cNvSpPr/>
          <p:nvPr/>
        </p:nvSpPr>
        <p:spPr>
          <a:xfrm>
            <a:off x="1555056" y="5269641"/>
            <a:ext cx="3073592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4700588" y="5609366"/>
            <a:ext cx="1300460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2" name="Text 10"/>
          <p:cNvSpPr/>
          <p:nvPr/>
        </p:nvSpPr>
        <p:spPr>
          <a:xfrm>
            <a:off x="4795838" y="5269641"/>
            <a:ext cx="103376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CAGR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6001048" y="5609366"/>
            <a:ext cx="1317327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298" y="5269641"/>
            <a:ext cx="1050627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SHARPE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7318375" y="5609366"/>
            <a:ext cx="1606550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16" name="Text 14"/>
          <p:cNvSpPr/>
          <p:nvPr/>
        </p:nvSpPr>
        <p:spPr>
          <a:xfrm>
            <a:off x="7413625" y="5269641"/>
            <a:ext cx="133985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914400" y="6333266"/>
            <a:ext cx="469205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85850" y="5790341"/>
            <a:ext cx="2025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383606" y="6333266"/>
            <a:ext cx="3316982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0" name="Text 18"/>
          <p:cNvSpPr/>
          <p:nvPr/>
        </p:nvSpPr>
        <p:spPr>
          <a:xfrm>
            <a:off x="1555056" y="5790341"/>
            <a:ext cx="307359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Large Cap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4700588" y="6333266"/>
            <a:ext cx="1300460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2" name="Text 20"/>
          <p:cNvSpPr/>
          <p:nvPr/>
        </p:nvSpPr>
        <p:spPr>
          <a:xfrm>
            <a:off x="4795838" y="5790341"/>
            <a:ext cx="10337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34.0%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001048" y="6333266"/>
            <a:ext cx="1317327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4" name="Text 22"/>
          <p:cNvSpPr/>
          <p:nvPr/>
        </p:nvSpPr>
        <p:spPr>
          <a:xfrm>
            <a:off x="6096298" y="5790341"/>
            <a:ext cx="105062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1.45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318375" y="6333266"/>
            <a:ext cx="1606550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6" name="Shape 24"/>
          <p:cNvSpPr/>
          <p:nvPr/>
        </p:nvSpPr>
        <p:spPr>
          <a:xfrm>
            <a:off x="7896225" y="5799866"/>
            <a:ext cx="85725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27" name="Text 25"/>
          <p:cNvSpPr/>
          <p:nvPr/>
        </p:nvSpPr>
        <p:spPr>
          <a:xfrm>
            <a:off x="7934325" y="5847491"/>
            <a:ext cx="7048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0.931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14400" y="7038117"/>
            <a:ext cx="469205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9" name="Text 27"/>
          <p:cNvSpPr/>
          <p:nvPr/>
        </p:nvSpPr>
        <p:spPr>
          <a:xfrm>
            <a:off x="1085850" y="6501542"/>
            <a:ext cx="2025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383606" y="7038117"/>
            <a:ext cx="3316982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1" name="Text 29"/>
          <p:cNvSpPr/>
          <p:nvPr/>
        </p:nvSpPr>
        <p:spPr>
          <a:xfrm>
            <a:off x="1555056" y="6501542"/>
            <a:ext cx="3073592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Flexicap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4700588" y="7038117"/>
            <a:ext cx="1300460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3" name="Text 31"/>
          <p:cNvSpPr/>
          <p:nvPr/>
        </p:nvSpPr>
        <p:spPr>
          <a:xfrm>
            <a:off x="4795838" y="6501542"/>
            <a:ext cx="103376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29.6%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6001048" y="7038117"/>
            <a:ext cx="1317327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5" name="Text 33"/>
          <p:cNvSpPr/>
          <p:nvPr/>
        </p:nvSpPr>
        <p:spPr>
          <a:xfrm>
            <a:off x="6096298" y="6501542"/>
            <a:ext cx="105062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1.31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7318375" y="7038117"/>
            <a:ext cx="1606550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7" name="Shape 35"/>
          <p:cNvSpPr/>
          <p:nvPr/>
        </p:nvSpPr>
        <p:spPr>
          <a:xfrm>
            <a:off x="7896225" y="6504716"/>
            <a:ext cx="85725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38" name="Text 36"/>
          <p:cNvSpPr/>
          <p:nvPr/>
        </p:nvSpPr>
        <p:spPr>
          <a:xfrm>
            <a:off x="7934325" y="6552341"/>
            <a:ext cx="7048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0.872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85850" y="7206392"/>
            <a:ext cx="202505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555056" y="7206392"/>
            <a:ext cx="3073592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Bluechip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4795838" y="7206392"/>
            <a:ext cx="1033760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30.5%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6096298" y="7206392"/>
            <a:ext cx="1050627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1.21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7896225" y="7209566"/>
            <a:ext cx="85725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44" name="Text 42"/>
          <p:cNvSpPr/>
          <p:nvPr/>
        </p:nvSpPr>
        <p:spPr>
          <a:xfrm>
            <a:off x="7934325" y="7257191"/>
            <a:ext cx="7048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0.842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363075" y="4945791"/>
            <a:ext cx="8250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AGGRESSIVE · WEIGHTED TOWARD GROWTH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363075" y="5609366"/>
            <a:ext cx="469205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47" name="Text 45"/>
          <p:cNvSpPr/>
          <p:nvPr/>
        </p:nvSpPr>
        <p:spPr>
          <a:xfrm>
            <a:off x="9534525" y="5269641"/>
            <a:ext cx="202505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9832281" y="5609366"/>
            <a:ext cx="3742531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49" name="Text 47"/>
          <p:cNvSpPr/>
          <p:nvPr/>
        </p:nvSpPr>
        <p:spPr>
          <a:xfrm>
            <a:off x="10003731" y="5269641"/>
            <a:ext cx="3511907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13574812" y="5609366"/>
            <a:ext cx="1169392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51" name="Text 49"/>
          <p:cNvSpPr/>
          <p:nvPr/>
        </p:nvSpPr>
        <p:spPr>
          <a:xfrm>
            <a:off x="13670062" y="5269641"/>
            <a:ext cx="902692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CAGR</a:t>
            </a:r>
            <a:endParaRPr lang="en-US" sz="1275" dirty="0"/>
          </a:p>
        </p:txBody>
      </p:sp>
      <p:sp>
        <p:nvSpPr>
          <p:cNvPr id="52" name="Shape 50"/>
          <p:cNvSpPr/>
          <p:nvPr/>
        </p:nvSpPr>
        <p:spPr>
          <a:xfrm>
            <a:off x="14744205" y="5609366"/>
            <a:ext cx="1184573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53" name="Text 51"/>
          <p:cNvSpPr/>
          <p:nvPr/>
        </p:nvSpPr>
        <p:spPr>
          <a:xfrm>
            <a:off x="14839455" y="5269641"/>
            <a:ext cx="917873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SHARPE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15928777" y="5609366"/>
            <a:ext cx="1444823" cy="19050"/>
          </a:xfrm>
          <a:prstGeom prst="rect">
            <a:avLst/>
          </a:prstGeom>
          <a:solidFill>
            <a:srgbClr val="CDD4E0"/>
          </a:solidFill>
          <a:ln/>
        </p:spPr>
      </p:sp>
      <p:sp>
        <p:nvSpPr>
          <p:cNvPr id="55" name="Text 53"/>
          <p:cNvSpPr/>
          <p:nvPr/>
        </p:nvSpPr>
        <p:spPr>
          <a:xfrm>
            <a:off x="16024027" y="5269641"/>
            <a:ext cx="1178123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kern="0" spc="77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275" dirty="0"/>
          </a:p>
        </p:txBody>
      </p:sp>
      <p:sp>
        <p:nvSpPr>
          <p:cNvPr id="56" name="Shape 54"/>
          <p:cNvSpPr/>
          <p:nvPr/>
        </p:nvSpPr>
        <p:spPr>
          <a:xfrm>
            <a:off x="9363075" y="6333266"/>
            <a:ext cx="469205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7" name="Text 55"/>
          <p:cNvSpPr/>
          <p:nvPr/>
        </p:nvSpPr>
        <p:spPr>
          <a:xfrm>
            <a:off x="9534525" y="5790341"/>
            <a:ext cx="2025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9832281" y="6333266"/>
            <a:ext cx="3742531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9" name="Text 57"/>
          <p:cNvSpPr/>
          <p:nvPr/>
        </p:nvSpPr>
        <p:spPr>
          <a:xfrm>
            <a:off x="10003731" y="5790341"/>
            <a:ext cx="35119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Large Cap</a:t>
            </a:r>
            <a:endParaRPr lang="en-US" sz="1650" dirty="0"/>
          </a:p>
        </p:txBody>
      </p:sp>
      <p:sp>
        <p:nvSpPr>
          <p:cNvPr id="60" name="Shape 58"/>
          <p:cNvSpPr/>
          <p:nvPr/>
        </p:nvSpPr>
        <p:spPr>
          <a:xfrm>
            <a:off x="13574812" y="6333266"/>
            <a:ext cx="1169392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1" name="Text 59"/>
          <p:cNvSpPr/>
          <p:nvPr/>
        </p:nvSpPr>
        <p:spPr>
          <a:xfrm>
            <a:off x="13670062" y="5790341"/>
            <a:ext cx="90269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34.0%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14744205" y="6333266"/>
            <a:ext cx="1184573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3" name="Text 61"/>
          <p:cNvSpPr/>
          <p:nvPr/>
        </p:nvSpPr>
        <p:spPr>
          <a:xfrm>
            <a:off x="14839455" y="5790341"/>
            <a:ext cx="91787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1.45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15928777" y="6333266"/>
            <a:ext cx="1444823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5" name="Shape 63"/>
          <p:cNvSpPr/>
          <p:nvPr/>
        </p:nvSpPr>
        <p:spPr>
          <a:xfrm>
            <a:off x="16344900" y="5799866"/>
            <a:ext cx="85725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66" name="Text 64"/>
          <p:cNvSpPr/>
          <p:nvPr/>
        </p:nvSpPr>
        <p:spPr>
          <a:xfrm>
            <a:off x="16383000" y="5847491"/>
            <a:ext cx="7048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0.964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9363075" y="7038117"/>
            <a:ext cx="469205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8" name="Text 66"/>
          <p:cNvSpPr/>
          <p:nvPr/>
        </p:nvSpPr>
        <p:spPr>
          <a:xfrm>
            <a:off x="9534525" y="6501542"/>
            <a:ext cx="2025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9832281" y="7038117"/>
            <a:ext cx="3742531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0" name="Text 68"/>
          <p:cNvSpPr/>
          <p:nvPr/>
        </p:nvSpPr>
        <p:spPr>
          <a:xfrm>
            <a:off x="10003731" y="6501542"/>
            <a:ext cx="351190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Midcap</a:t>
            </a:r>
            <a:endParaRPr lang="en-US" sz="1650" dirty="0"/>
          </a:p>
        </p:txBody>
      </p:sp>
      <p:sp>
        <p:nvSpPr>
          <p:cNvPr id="71" name="Shape 69"/>
          <p:cNvSpPr/>
          <p:nvPr/>
        </p:nvSpPr>
        <p:spPr>
          <a:xfrm>
            <a:off x="13574812" y="7038117"/>
            <a:ext cx="1169392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2" name="Text 70"/>
          <p:cNvSpPr/>
          <p:nvPr/>
        </p:nvSpPr>
        <p:spPr>
          <a:xfrm>
            <a:off x="13670062" y="6501542"/>
            <a:ext cx="902692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35.1%</a:t>
            </a:r>
            <a:endParaRPr lang="en-US" sz="1650" dirty="0"/>
          </a:p>
        </p:txBody>
      </p:sp>
      <p:sp>
        <p:nvSpPr>
          <p:cNvPr id="73" name="Shape 71"/>
          <p:cNvSpPr/>
          <p:nvPr/>
        </p:nvSpPr>
        <p:spPr>
          <a:xfrm>
            <a:off x="14744205" y="7038117"/>
            <a:ext cx="1184573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4" name="Text 72"/>
          <p:cNvSpPr/>
          <p:nvPr/>
        </p:nvSpPr>
        <p:spPr>
          <a:xfrm>
            <a:off x="14839455" y="6501542"/>
            <a:ext cx="917873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650" dirty="0"/>
          </a:p>
        </p:txBody>
      </p:sp>
      <p:sp>
        <p:nvSpPr>
          <p:cNvPr id="75" name="Shape 73"/>
          <p:cNvSpPr/>
          <p:nvPr/>
        </p:nvSpPr>
        <p:spPr>
          <a:xfrm>
            <a:off x="15928777" y="7038117"/>
            <a:ext cx="1444823" cy="9525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6" name="Shape 74"/>
          <p:cNvSpPr/>
          <p:nvPr/>
        </p:nvSpPr>
        <p:spPr>
          <a:xfrm>
            <a:off x="16344900" y="6504716"/>
            <a:ext cx="85725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77" name="Text 75"/>
          <p:cNvSpPr/>
          <p:nvPr/>
        </p:nvSpPr>
        <p:spPr>
          <a:xfrm>
            <a:off x="16383000" y="6552341"/>
            <a:ext cx="7048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0.901</a:t>
            </a:r>
            <a:endParaRPr lang="en-US" sz="1650" dirty="0"/>
          </a:p>
        </p:txBody>
      </p:sp>
      <p:sp>
        <p:nvSpPr>
          <p:cNvPr id="78" name="Text 76"/>
          <p:cNvSpPr/>
          <p:nvPr/>
        </p:nvSpPr>
        <p:spPr>
          <a:xfrm>
            <a:off x="9534525" y="7206392"/>
            <a:ext cx="202505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4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79" name="Text 77"/>
          <p:cNvSpPr/>
          <p:nvPr/>
        </p:nvSpPr>
        <p:spPr>
          <a:xfrm>
            <a:off x="10003731" y="7206392"/>
            <a:ext cx="3511907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Mid-Cap Opportunities</a:t>
            </a:r>
            <a:endParaRPr lang="en-US" sz="1650" dirty="0"/>
          </a:p>
        </p:txBody>
      </p:sp>
      <p:sp>
        <p:nvSpPr>
          <p:cNvPr id="80" name="Text 78"/>
          <p:cNvSpPr/>
          <p:nvPr/>
        </p:nvSpPr>
        <p:spPr>
          <a:xfrm>
            <a:off x="13670062" y="7206392"/>
            <a:ext cx="902692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32.4%</a:t>
            </a:r>
            <a:endParaRPr lang="en-US" sz="1650" dirty="0"/>
          </a:p>
        </p:txBody>
      </p:sp>
      <p:sp>
        <p:nvSpPr>
          <p:cNvPr id="81" name="Text 79"/>
          <p:cNvSpPr/>
          <p:nvPr/>
        </p:nvSpPr>
        <p:spPr>
          <a:xfrm>
            <a:off x="14839455" y="7206392"/>
            <a:ext cx="917873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1.09</a:t>
            </a:r>
            <a:endParaRPr lang="en-US" sz="1650" dirty="0"/>
          </a:p>
        </p:txBody>
      </p:sp>
      <p:sp>
        <p:nvSpPr>
          <p:cNvPr id="82" name="Shape 80"/>
          <p:cNvSpPr/>
          <p:nvPr/>
        </p:nvSpPr>
        <p:spPr>
          <a:xfrm>
            <a:off x="16344900" y="7209566"/>
            <a:ext cx="857250" cy="374650"/>
          </a:xfrm>
          <a:prstGeom prst="roundRect">
            <a:avLst>
              <a:gd name="adj" fmla="val 20339"/>
            </a:avLst>
          </a:prstGeom>
          <a:solidFill>
            <a:srgbClr val="EAEBFB"/>
          </a:solidFill>
          <a:ln/>
        </p:spPr>
      </p:sp>
      <p:sp>
        <p:nvSpPr>
          <p:cNvPr id="83" name="Text 81"/>
          <p:cNvSpPr/>
          <p:nvPr/>
        </p:nvSpPr>
        <p:spPr>
          <a:xfrm>
            <a:off x="16383000" y="7257191"/>
            <a:ext cx="7048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A3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0.888</a:t>
            </a:r>
            <a:endParaRPr lang="en-US" sz="1650" dirty="0"/>
          </a:p>
        </p:txBody>
      </p:sp>
      <p:sp>
        <p:nvSpPr>
          <p:cNvPr id="84" name="Text 82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3471525" y="9779001"/>
            <a:ext cx="40191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risk profiles: Low · Medium · High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34848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 &amp; ENGINEERING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a production engineering mindset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14400" y="2317452"/>
            <a:ext cx="169529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TOOLCHAIN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660352"/>
            <a:ext cx="1590278" cy="3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200" y="2752427"/>
            <a:ext cx="13108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3.11+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18978" y="2660352"/>
            <a:ext cx="1796058" cy="3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96778" y="2752427"/>
            <a:ext cx="15166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· numpy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29336" y="2660352"/>
            <a:ext cx="870049" cy="3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7136" y="2752427"/>
            <a:ext cx="5906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513686" y="2660352"/>
            <a:ext cx="3339405" cy="3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91486" y="2752427"/>
            <a:ext cx="30839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 · seaborn · plotly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67391" y="2660352"/>
            <a:ext cx="1178719" cy="3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5191" y="2752427"/>
            <a:ext cx="8993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3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260410" y="2660352"/>
            <a:ext cx="1384498" cy="3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38210" y="2752427"/>
            <a:ext cx="11050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JupyterLab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759208" y="2660352"/>
            <a:ext cx="1693168" cy="374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DD4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937008" y="2752427"/>
            <a:ext cx="14137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52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mfapi.in REST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14400" y="5711065"/>
            <a:ext cx="3971925" cy="1537891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550" y="6003165"/>
            <a:ext cx="34501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225550" y="6415915"/>
            <a:ext cx="3450114" cy="5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pathlib paths, no hard-coded locations, single-command run.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76825" y="5711065"/>
            <a:ext cx="3971925" cy="1537891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7975" y="6003165"/>
            <a:ext cx="34501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5387975" y="6415915"/>
            <a:ext cx="3450114" cy="5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Per-file error isolation and INFO-level logging throughout.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39250" y="5711065"/>
            <a:ext cx="3971925" cy="1537891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0400" y="6003165"/>
            <a:ext cx="34501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550400" y="6415915"/>
            <a:ext cx="3450114" cy="5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checks, anomaly flags and CHECK / FK constraints in SQL.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3401675" y="5711065"/>
            <a:ext cx="3971925" cy="1537891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2826" y="6003165"/>
            <a:ext cx="34501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3712826" y="6415915"/>
            <a:ext cx="3450114" cy="5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dictionary, quality summary and a full project report.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227400" y="9779001"/>
            <a:ext cx="22224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 · pip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35818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329730" y="838200"/>
            <a:ext cx="23317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3B4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&amp; ROADMAP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263650"/>
            <a:ext cx="16952976" cy="6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b="1" kern="0" spc="-89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Delivered, and what comes next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14400" y="2355552"/>
            <a:ext cx="82508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1F9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COMPLETED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860377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1F9A6B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2755602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ETL pipeline (ingest → clean → load)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36361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1F9A6B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3258840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SQLite star schema + 10 queries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3866852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1F9A6B"/>
          </a:solidFill>
          <a:ln/>
        </p:spPr>
      </p:sp>
      <p:sp>
        <p:nvSpPr>
          <p:cNvPr id="11" name="Text 9"/>
          <p:cNvSpPr/>
          <p:nvPr/>
        </p:nvSpPr>
        <p:spPr>
          <a:xfrm>
            <a:off x="1190625" y="3762077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Exploratory analysis, 11 charts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37009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1F9A6B"/>
          </a:solidFill>
          <a:ln/>
        </p:spPr>
      </p:sp>
      <p:sp>
        <p:nvSpPr>
          <p:cNvPr id="13" name="Text 11"/>
          <p:cNvSpPr/>
          <p:nvPr/>
        </p:nvSpPr>
        <p:spPr>
          <a:xfrm>
            <a:off x="1190625" y="4265315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Performance scorecard &amp; metrics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4873328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1F9A6B"/>
          </a:solidFill>
          <a:ln/>
        </p:spPr>
      </p:sp>
      <p:sp>
        <p:nvSpPr>
          <p:cNvPr id="15" name="Text 13"/>
          <p:cNvSpPr/>
          <p:nvPr/>
        </p:nvSpPr>
        <p:spPr>
          <a:xfrm>
            <a:off x="1190625" y="4768553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VaR, cohorts &amp; recommender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363075" y="2355552"/>
            <a:ext cx="8250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NEXT UP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63075" y="2822277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C98A12"/>
          </a:solidFill>
          <a:ln/>
        </p:spPr>
      </p:sp>
      <p:sp>
        <p:nvSpPr>
          <p:cNvPr id="18" name="Text 16"/>
          <p:cNvSpPr/>
          <p:nvPr/>
        </p:nvSpPr>
        <p:spPr>
          <a:xfrm>
            <a:off x="9639300" y="2717502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Power BI dashboard, 4 pages with slicers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363075" y="332551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C98A12"/>
          </a:solidFill>
          <a:ln/>
        </p:spPr>
      </p:sp>
      <p:sp>
        <p:nvSpPr>
          <p:cNvPr id="20" name="Text 18"/>
          <p:cNvSpPr/>
          <p:nvPr/>
        </p:nvSpPr>
        <p:spPr>
          <a:xfrm>
            <a:off x="9639300" y="3220740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</a:t>
            </a:r>
            <a:r>
              <a:rPr lang="en-US" sz="1950" dirty="0">
                <a:solidFill>
                  <a:srgbClr val="15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Final PDF report &amp; presentation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363075" y="3828752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8A93A6"/>
          </a:solidFill>
          <a:ln/>
        </p:spPr>
      </p:sp>
      <p:sp>
        <p:nvSpPr>
          <p:cNvPr id="22" name="Text 20"/>
          <p:cNvSpPr/>
          <p:nvPr/>
        </p:nvSpPr>
        <p:spPr>
          <a:xfrm>
            <a:off x="9639300" y="3723977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— scheduled cron ETL &amp; Streamlit app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363075" y="433199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8A93A6"/>
          </a:solidFill>
          <a:ln/>
        </p:spPr>
      </p:sp>
      <p:sp>
        <p:nvSpPr>
          <p:cNvPr id="24" name="Text 22"/>
          <p:cNvSpPr/>
          <p:nvPr/>
        </p:nvSpPr>
        <p:spPr>
          <a:xfrm>
            <a:off x="9639300" y="4227215"/>
            <a:ext cx="7966329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— Monte Carlo &amp; Markowitz frontier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14400" y="9766300"/>
            <a:ext cx="222200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566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178830" y="9779001"/>
            <a:ext cx="43206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issues &amp; pending work tracked in docs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3B49D6"/>
          </a:solidFill>
          <a:ln/>
        </p:spPr>
      </p:sp>
      <p:sp>
        <p:nvSpPr>
          <p:cNvPr id="3" name="Shape 1"/>
          <p:cNvSpPr/>
          <p:nvPr/>
        </p:nvSpPr>
        <p:spPr>
          <a:xfrm>
            <a:off x="1019175" y="94297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860425"/>
            <a:ext cx="117723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05980" y="860425"/>
            <a:ext cx="85070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94844" y="914400"/>
            <a:ext cx="23549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7E9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PROJECT ·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882330"/>
            <a:ext cx="1695297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RAW DATA TO INVESTOR INSIGHT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3981"/>
            <a:ext cx="16952976" cy="859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600" b="1" kern="0" spc="-198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914400" y="5434013"/>
            <a:ext cx="10595610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AEB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reproducible analytics platform — engineered, explored, measured and ready to advise.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9007475"/>
            <a:ext cx="440850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Vindhya D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14400" y="9372600"/>
            <a:ext cx="44085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E9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Analyst Intern · Bluestock Fintech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399959" y="9134475"/>
            <a:ext cx="49736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350" kern="0" spc="54" dirty="0">
                <a:solidFill>
                  <a:srgbClr val="8FA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github.com/Vindhya1110/mutual-fund-dashboard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399959" y="9372600"/>
            <a:ext cx="49736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350" kern="0" spc="54" dirty="0">
                <a:solidFill>
                  <a:srgbClr val="7E9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SQL · Jupyter · Power BI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1499</Words>
  <Application>Microsoft Office PowerPoint</Application>
  <PresentationFormat>Custom</PresentationFormat>
  <Paragraphs>345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Vindhya Dunna</cp:lastModifiedBy>
  <cp:revision>2</cp:revision>
  <dcterms:created xsi:type="dcterms:W3CDTF">2026-06-10T09:17:26Z</dcterms:created>
  <dcterms:modified xsi:type="dcterms:W3CDTF">2026-06-10T09:48:00Z</dcterms:modified>
</cp:coreProperties>
</file>